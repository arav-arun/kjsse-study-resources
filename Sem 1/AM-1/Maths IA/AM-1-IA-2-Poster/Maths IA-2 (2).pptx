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2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52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199046-466C-4972-B620-5D1111A9840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662D3E-9B8A-4F00-B7E9-6CFB3662C699}">
      <dgm:prSet phldrT="[Text]" phldr="0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A82E2F"/>
        </a:solidFill>
      </dgm:spPr>
      <dgm:t>
        <a:bodyPr/>
        <a:lstStyle/>
        <a:p>
          <a:r>
            <a:rPr lang="en-US"/>
            <a:t>Row Reduction</a:t>
          </a:r>
        </a:p>
      </dgm:t>
    </dgm:pt>
    <dgm:pt modelId="{CDB37E9D-1079-4DCB-9B6B-5B9FC12CE3C0}" type="parTrans" cxnId="{B054CD0D-0D45-4186-9305-5896EA899B94}">
      <dgm:prSet/>
      <dgm:spPr/>
      <dgm:t>
        <a:bodyPr/>
        <a:lstStyle/>
        <a:p>
          <a:endParaRPr lang="en-US"/>
        </a:p>
      </dgm:t>
    </dgm:pt>
    <dgm:pt modelId="{C5E9B7B7-423E-430A-8630-A097FA10A348}" type="sibTrans" cxnId="{B054CD0D-0D45-4186-9305-5896EA899B94}">
      <dgm:prSet/>
      <dgm:spPr/>
      <dgm:t>
        <a:bodyPr/>
        <a:lstStyle/>
        <a:p>
          <a:endParaRPr lang="en-US"/>
        </a:p>
      </dgm:t>
    </dgm:pt>
    <dgm:pt modelId="{5E588B3A-EB9B-4DE6-BD41-36B7DB4122D5}">
      <dgm:prSet phldrT="[Text]" phldr="0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Column Reduction</a:t>
          </a:r>
        </a:p>
      </dgm:t>
    </dgm:pt>
    <dgm:pt modelId="{EA1BEF75-B2DE-4AA2-A06F-02142539780E}" type="parTrans" cxnId="{EEA3B6EB-7CD8-48B8-A215-5F4F38003941}">
      <dgm:prSet/>
      <dgm:spPr/>
      <dgm:t>
        <a:bodyPr/>
        <a:lstStyle/>
        <a:p>
          <a:endParaRPr lang="en-US"/>
        </a:p>
      </dgm:t>
    </dgm:pt>
    <dgm:pt modelId="{E1D9BAFF-758A-4E09-A626-D3A940B939D5}" type="sibTrans" cxnId="{EEA3B6EB-7CD8-48B8-A215-5F4F38003941}">
      <dgm:prSet/>
      <dgm:spPr/>
      <dgm:t>
        <a:bodyPr/>
        <a:lstStyle/>
        <a:p>
          <a:endParaRPr lang="en-US"/>
        </a:p>
      </dgm:t>
    </dgm:pt>
    <dgm:pt modelId="{A30C2391-FA5D-431D-B039-F762FF7DD6EF}">
      <dgm:prSet phldrT="[Text]" phldr="0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A82E2F"/>
        </a:solidFill>
      </dgm:spPr>
      <dgm:t>
        <a:bodyPr/>
        <a:lstStyle/>
        <a:p>
          <a:r>
            <a:rPr lang="en-US" dirty="0"/>
            <a:t>Cover Zeros</a:t>
          </a:r>
        </a:p>
      </dgm:t>
    </dgm:pt>
    <dgm:pt modelId="{ABF6F6C4-3039-4C50-A6F5-57DFA9CA1D56}" type="parTrans" cxnId="{6C7CE2C0-465D-406F-A65B-0D4C236292ED}">
      <dgm:prSet/>
      <dgm:spPr/>
      <dgm:t>
        <a:bodyPr/>
        <a:lstStyle/>
        <a:p>
          <a:endParaRPr lang="en-US"/>
        </a:p>
      </dgm:t>
    </dgm:pt>
    <dgm:pt modelId="{20C0B5AE-95B5-4D23-8E4E-135FE2AEBBF2}" type="sibTrans" cxnId="{6C7CE2C0-465D-406F-A65B-0D4C236292ED}">
      <dgm:prSet/>
      <dgm:spPr/>
      <dgm:t>
        <a:bodyPr/>
        <a:lstStyle/>
        <a:p>
          <a:endParaRPr lang="en-US"/>
        </a:p>
      </dgm:t>
    </dgm:pt>
    <dgm:pt modelId="{9DCACD6C-F5C8-4C1E-9623-F94F2D760F35}">
      <dgm:prSet phldrT="[Text]" phldr="0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/>
            <a:t>Adjust Matrix</a:t>
          </a:r>
          <a:endParaRPr lang="en-US" dirty="0"/>
        </a:p>
      </dgm:t>
    </dgm:pt>
    <dgm:pt modelId="{69F02E30-BAAE-4A7C-8C87-473288F08353}" type="parTrans" cxnId="{C19A125D-0BD0-4368-95DD-A1F149FA752F}">
      <dgm:prSet/>
      <dgm:spPr/>
      <dgm:t>
        <a:bodyPr/>
        <a:lstStyle/>
        <a:p>
          <a:endParaRPr lang="en-US"/>
        </a:p>
      </dgm:t>
    </dgm:pt>
    <dgm:pt modelId="{7402F6C8-EC3C-4AAC-B71D-14A43955045F}" type="sibTrans" cxnId="{C19A125D-0BD0-4368-95DD-A1F149FA752F}">
      <dgm:prSet/>
      <dgm:spPr/>
      <dgm:t>
        <a:bodyPr/>
        <a:lstStyle/>
        <a:p>
          <a:endParaRPr lang="en-US"/>
        </a:p>
      </dgm:t>
    </dgm:pt>
    <dgm:pt modelId="{62EE07B2-4C49-44A9-B8AA-FEDAA8CC4D13}">
      <dgm:prSet phldrT="[Text]" phldr="0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A82E2F"/>
        </a:solidFill>
      </dgm:spPr>
      <dgm:t>
        <a:bodyPr/>
        <a:lstStyle/>
        <a:p>
          <a:r>
            <a:rPr lang="en-US" dirty="0"/>
            <a:t>Make Assignment's</a:t>
          </a:r>
        </a:p>
      </dgm:t>
    </dgm:pt>
    <dgm:pt modelId="{7EE3D41B-CCF9-4291-BD63-D2C6BA77495D}" type="parTrans" cxnId="{C70CBB8C-152B-4630-96A9-C0871E558E29}">
      <dgm:prSet/>
      <dgm:spPr/>
      <dgm:t>
        <a:bodyPr/>
        <a:lstStyle/>
        <a:p>
          <a:endParaRPr lang="en-US"/>
        </a:p>
      </dgm:t>
    </dgm:pt>
    <dgm:pt modelId="{8AF76CB9-2BB0-4D25-BB4E-25D16B07DCA6}" type="sibTrans" cxnId="{C70CBB8C-152B-4630-96A9-C0871E558E29}">
      <dgm:prSet/>
      <dgm:spPr/>
      <dgm:t>
        <a:bodyPr/>
        <a:lstStyle/>
        <a:p>
          <a:endParaRPr lang="en-US"/>
        </a:p>
      </dgm:t>
    </dgm:pt>
    <dgm:pt modelId="{41245185-A9A0-409E-B0C3-52653C83608A}" type="pres">
      <dgm:prSet presAssocID="{1C199046-466C-4972-B620-5D1111A98407}" presName="Name0" presStyleCnt="0">
        <dgm:presLayoutVars>
          <dgm:dir/>
          <dgm:resizeHandles val="exact"/>
        </dgm:presLayoutVars>
      </dgm:prSet>
      <dgm:spPr/>
    </dgm:pt>
    <dgm:pt modelId="{B4EAC9F3-E516-4E3E-995C-4596C8E90ADA}" type="pres">
      <dgm:prSet presAssocID="{68662D3E-9B8A-4F00-B7E9-6CFB3662C699}" presName="parTxOnly" presStyleLbl="node1" presStyleIdx="0" presStyleCnt="5">
        <dgm:presLayoutVars>
          <dgm:bulletEnabled val="1"/>
        </dgm:presLayoutVars>
      </dgm:prSet>
      <dgm:spPr/>
    </dgm:pt>
    <dgm:pt modelId="{8D7A4E46-3214-4067-9E21-DE5483F8950D}" type="pres">
      <dgm:prSet presAssocID="{C5E9B7B7-423E-430A-8630-A097FA10A348}" presName="parSpace" presStyleCnt="0"/>
      <dgm:spPr/>
    </dgm:pt>
    <dgm:pt modelId="{016B6DF4-6485-459B-B36E-AD47AAAA91C5}" type="pres">
      <dgm:prSet presAssocID="{5E588B3A-EB9B-4DE6-BD41-36B7DB4122D5}" presName="parTxOnly" presStyleLbl="node1" presStyleIdx="1" presStyleCnt="5">
        <dgm:presLayoutVars>
          <dgm:bulletEnabled val="1"/>
        </dgm:presLayoutVars>
      </dgm:prSet>
      <dgm:spPr/>
    </dgm:pt>
    <dgm:pt modelId="{F6A5938F-7609-4C1E-8961-B01837A384CE}" type="pres">
      <dgm:prSet presAssocID="{E1D9BAFF-758A-4E09-A626-D3A940B939D5}" presName="parSpace" presStyleCnt="0"/>
      <dgm:spPr/>
    </dgm:pt>
    <dgm:pt modelId="{3C7F2C41-D6EB-49F2-B88F-57B48E0B3220}" type="pres">
      <dgm:prSet presAssocID="{A30C2391-FA5D-431D-B039-F762FF7DD6EF}" presName="parTxOnly" presStyleLbl="node1" presStyleIdx="2" presStyleCnt="5">
        <dgm:presLayoutVars>
          <dgm:bulletEnabled val="1"/>
        </dgm:presLayoutVars>
      </dgm:prSet>
      <dgm:spPr/>
    </dgm:pt>
    <dgm:pt modelId="{BAEDE005-5AE7-4964-9D0B-377013AF7174}" type="pres">
      <dgm:prSet presAssocID="{20C0B5AE-95B5-4D23-8E4E-135FE2AEBBF2}" presName="parSpace" presStyleCnt="0"/>
      <dgm:spPr/>
    </dgm:pt>
    <dgm:pt modelId="{1744AABC-8978-4CD2-9D63-5F691630CEB0}" type="pres">
      <dgm:prSet presAssocID="{9DCACD6C-F5C8-4C1E-9623-F94F2D760F35}" presName="parTxOnly" presStyleLbl="node1" presStyleIdx="3" presStyleCnt="5">
        <dgm:presLayoutVars>
          <dgm:bulletEnabled val="1"/>
        </dgm:presLayoutVars>
      </dgm:prSet>
      <dgm:spPr/>
    </dgm:pt>
    <dgm:pt modelId="{2EE854FD-0079-4339-A470-BED0E57152B9}" type="pres">
      <dgm:prSet presAssocID="{7402F6C8-EC3C-4AAC-B71D-14A43955045F}" presName="parSpace" presStyleCnt="0"/>
      <dgm:spPr/>
    </dgm:pt>
    <dgm:pt modelId="{4D22B74A-BDFE-4D86-98DD-E5946F73CA87}" type="pres">
      <dgm:prSet presAssocID="{62EE07B2-4C49-44A9-B8AA-FEDAA8CC4D13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B054CD0D-0D45-4186-9305-5896EA899B94}" srcId="{1C199046-466C-4972-B620-5D1111A98407}" destId="{68662D3E-9B8A-4F00-B7E9-6CFB3662C699}" srcOrd="0" destOrd="0" parTransId="{CDB37E9D-1079-4DCB-9B6B-5B9FC12CE3C0}" sibTransId="{C5E9B7B7-423E-430A-8630-A097FA10A348}"/>
    <dgm:cxn modelId="{3BF94224-D916-471D-B28B-1CC9A8796E9D}" type="presOf" srcId="{1C199046-466C-4972-B620-5D1111A98407}" destId="{41245185-A9A0-409E-B0C3-52653C83608A}" srcOrd="0" destOrd="0" presId="urn:microsoft.com/office/officeart/2005/8/layout/hChevron3"/>
    <dgm:cxn modelId="{3F250B28-4DDD-43E3-9A41-3F1123B22E65}" type="presOf" srcId="{A30C2391-FA5D-431D-B039-F762FF7DD6EF}" destId="{3C7F2C41-D6EB-49F2-B88F-57B48E0B3220}" srcOrd="0" destOrd="0" presId="urn:microsoft.com/office/officeart/2005/8/layout/hChevron3"/>
    <dgm:cxn modelId="{8CB89339-7C19-48B7-9BE9-42E295B738C2}" type="presOf" srcId="{68662D3E-9B8A-4F00-B7E9-6CFB3662C699}" destId="{B4EAC9F3-E516-4E3E-995C-4596C8E90ADA}" srcOrd="0" destOrd="0" presId="urn:microsoft.com/office/officeart/2005/8/layout/hChevron3"/>
    <dgm:cxn modelId="{C19A125D-0BD0-4368-95DD-A1F149FA752F}" srcId="{1C199046-466C-4972-B620-5D1111A98407}" destId="{9DCACD6C-F5C8-4C1E-9623-F94F2D760F35}" srcOrd="3" destOrd="0" parTransId="{69F02E30-BAAE-4A7C-8C87-473288F08353}" sibTransId="{7402F6C8-EC3C-4AAC-B71D-14A43955045F}"/>
    <dgm:cxn modelId="{2B791A73-ED95-476C-8E4A-74DCD87532CE}" type="presOf" srcId="{5E588B3A-EB9B-4DE6-BD41-36B7DB4122D5}" destId="{016B6DF4-6485-459B-B36E-AD47AAAA91C5}" srcOrd="0" destOrd="0" presId="urn:microsoft.com/office/officeart/2005/8/layout/hChevron3"/>
    <dgm:cxn modelId="{D91FC653-ABD0-45DC-8570-308E97758078}" type="presOf" srcId="{62EE07B2-4C49-44A9-B8AA-FEDAA8CC4D13}" destId="{4D22B74A-BDFE-4D86-98DD-E5946F73CA87}" srcOrd="0" destOrd="0" presId="urn:microsoft.com/office/officeart/2005/8/layout/hChevron3"/>
    <dgm:cxn modelId="{C70CBB8C-152B-4630-96A9-C0871E558E29}" srcId="{1C199046-466C-4972-B620-5D1111A98407}" destId="{62EE07B2-4C49-44A9-B8AA-FEDAA8CC4D13}" srcOrd="4" destOrd="0" parTransId="{7EE3D41B-CCF9-4291-BD63-D2C6BA77495D}" sibTransId="{8AF76CB9-2BB0-4D25-BB4E-25D16B07DCA6}"/>
    <dgm:cxn modelId="{AE0574B1-4A9A-48A2-AF2B-77BA8B0BDB50}" type="presOf" srcId="{9DCACD6C-F5C8-4C1E-9623-F94F2D760F35}" destId="{1744AABC-8978-4CD2-9D63-5F691630CEB0}" srcOrd="0" destOrd="0" presId="urn:microsoft.com/office/officeart/2005/8/layout/hChevron3"/>
    <dgm:cxn modelId="{6C7CE2C0-465D-406F-A65B-0D4C236292ED}" srcId="{1C199046-466C-4972-B620-5D1111A98407}" destId="{A30C2391-FA5D-431D-B039-F762FF7DD6EF}" srcOrd="2" destOrd="0" parTransId="{ABF6F6C4-3039-4C50-A6F5-57DFA9CA1D56}" sibTransId="{20C0B5AE-95B5-4D23-8E4E-135FE2AEBBF2}"/>
    <dgm:cxn modelId="{EEA3B6EB-7CD8-48B8-A215-5F4F38003941}" srcId="{1C199046-466C-4972-B620-5D1111A98407}" destId="{5E588B3A-EB9B-4DE6-BD41-36B7DB4122D5}" srcOrd="1" destOrd="0" parTransId="{EA1BEF75-B2DE-4AA2-A06F-02142539780E}" sibTransId="{E1D9BAFF-758A-4E09-A626-D3A940B939D5}"/>
    <dgm:cxn modelId="{5EB1FDC8-A44C-4A1A-81D3-B6DCE009FA92}" type="presParOf" srcId="{41245185-A9A0-409E-B0C3-52653C83608A}" destId="{B4EAC9F3-E516-4E3E-995C-4596C8E90ADA}" srcOrd="0" destOrd="0" presId="urn:microsoft.com/office/officeart/2005/8/layout/hChevron3"/>
    <dgm:cxn modelId="{D1861C3B-712E-4661-866B-460D41C329C0}" type="presParOf" srcId="{41245185-A9A0-409E-B0C3-52653C83608A}" destId="{8D7A4E46-3214-4067-9E21-DE5483F8950D}" srcOrd="1" destOrd="0" presId="urn:microsoft.com/office/officeart/2005/8/layout/hChevron3"/>
    <dgm:cxn modelId="{20587436-5D27-45C3-B674-55654F51DAC6}" type="presParOf" srcId="{41245185-A9A0-409E-B0C3-52653C83608A}" destId="{016B6DF4-6485-459B-B36E-AD47AAAA91C5}" srcOrd="2" destOrd="0" presId="urn:microsoft.com/office/officeart/2005/8/layout/hChevron3"/>
    <dgm:cxn modelId="{71440806-C22D-479F-AD28-29F71F1C4473}" type="presParOf" srcId="{41245185-A9A0-409E-B0C3-52653C83608A}" destId="{F6A5938F-7609-4C1E-8961-B01837A384CE}" srcOrd="3" destOrd="0" presId="urn:microsoft.com/office/officeart/2005/8/layout/hChevron3"/>
    <dgm:cxn modelId="{D980CB4F-46A5-465D-9BEF-604553364FB5}" type="presParOf" srcId="{41245185-A9A0-409E-B0C3-52653C83608A}" destId="{3C7F2C41-D6EB-49F2-B88F-57B48E0B3220}" srcOrd="4" destOrd="0" presId="urn:microsoft.com/office/officeart/2005/8/layout/hChevron3"/>
    <dgm:cxn modelId="{0809A145-AB5E-4AB4-9FD6-B8D57A268BD4}" type="presParOf" srcId="{41245185-A9A0-409E-B0C3-52653C83608A}" destId="{BAEDE005-5AE7-4964-9D0B-377013AF7174}" srcOrd="5" destOrd="0" presId="urn:microsoft.com/office/officeart/2005/8/layout/hChevron3"/>
    <dgm:cxn modelId="{0CD0A4BE-559E-48D1-85D1-A1AC833FDE1B}" type="presParOf" srcId="{41245185-A9A0-409E-B0C3-52653C83608A}" destId="{1744AABC-8978-4CD2-9D63-5F691630CEB0}" srcOrd="6" destOrd="0" presId="urn:microsoft.com/office/officeart/2005/8/layout/hChevron3"/>
    <dgm:cxn modelId="{C9942554-F7AB-4244-8DC0-7E7B4B2EB507}" type="presParOf" srcId="{41245185-A9A0-409E-B0C3-52653C83608A}" destId="{2EE854FD-0079-4339-A470-BED0E57152B9}" srcOrd="7" destOrd="0" presId="urn:microsoft.com/office/officeart/2005/8/layout/hChevron3"/>
    <dgm:cxn modelId="{479DA26B-4660-40D3-B739-A6C0D074C2AA}" type="presParOf" srcId="{41245185-A9A0-409E-B0C3-52653C83608A}" destId="{4D22B74A-BDFE-4D86-98DD-E5946F73CA87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AC9F3-E516-4E3E-995C-4596C8E90ADA}">
      <dsp:nvSpPr>
        <dsp:cNvPr id="0" name=""/>
        <dsp:cNvSpPr/>
      </dsp:nvSpPr>
      <dsp:spPr>
        <a:xfrm>
          <a:off x="1011" y="2450141"/>
          <a:ext cx="1973292" cy="789317"/>
        </a:xfrm>
        <a:prstGeom prst="homePlate">
          <a:avLst/>
        </a:prstGeom>
        <a:solidFill>
          <a:srgbClr val="A82E2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Row Reduction</a:t>
          </a:r>
        </a:p>
      </dsp:txBody>
      <dsp:txXfrm>
        <a:off x="1011" y="2450141"/>
        <a:ext cx="1775963" cy="789317"/>
      </dsp:txXfrm>
    </dsp:sp>
    <dsp:sp modelId="{016B6DF4-6485-459B-B36E-AD47AAAA91C5}">
      <dsp:nvSpPr>
        <dsp:cNvPr id="0" name=""/>
        <dsp:cNvSpPr/>
      </dsp:nvSpPr>
      <dsp:spPr>
        <a:xfrm>
          <a:off x="1579646" y="2450141"/>
          <a:ext cx="1973292" cy="789317"/>
        </a:xfrm>
        <a:prstGeom prst="chevron">
          <a:avLst/>
        </a:prstGeom>
        <a:solidFill>
          <a:schemeClr val="bg2">
            <a:lumMod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Column Reduction</a:t>
          </a:r>
        </a:p>
      </dsp:txBody>
      <dsp:txXfrm>
        <a:off x="1974305" y="2450141"/>
        <a:ext cx="1183975" cy="789317"/>
      </dsp:txXfrm>
    </dsp:sp>
    <dsp:sp modelId="{3C7F2C41-D6EB-49F2-B88F-57B48E0B3220}">
      <dsp:nvSpPr>
        <dsp:cNvPr id="0" name=""/>
        <dsp:cNvSpPr/>
      </dsp:nvSpPr>
      <dsp:spPr>
        <a:xfrm>
          <a:off x="3158280" y="2450141"/>
          <a:ext cx="1973292" cy="789317"/>
        </a:xfrm>
        <a:prstGeom prst="chevron">
          <a:avLst/>
        </a:prstGeom>
        <a:solidFill>
          <a:srgbClr val="A82E2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Cover Zeros</a:t>
          </a:r>
        </a:p>
      </dsp:txBody>
      <dsp:txXfrm>
        <a:off x="3552939" y="2450141"/>
        <a:ext cx="1183975" cy="789317"/>
      </dsp:txXfrm>
    </dsp:sp>
    <dsp:sp modelId="{1744AABC-8978-4CD2-9D63-5F691630CEB0}">
      <dsp:nvSpPr>
        <dsp:cNvPr id="0" name=""/>
        <dsp:cNvSpPr/>
      </dsp:nvSpPr>
      <dsp:spPr>
        <a:xfrm>
          <a:off x="4736914" y="2450141"/>
          <a:ext cx="1973292" cy="789317"/>
        </a:xfrm>
        <a:prstGeom prst="chevron">
          <a:avLst/>
        </a:prstGeom>
        <a:solidFill>
          <a:schemeClr val="bg2">
            <a:lumMod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Adjust Matrix</a:t>
          </a:r>
          <a:endParaRPr lang="en-US" sz="1600" kern="1200" dirty="0"/>
        </a:p>
      </dsp:txBody>
      <dsp:txXfrm>
        <a:off x="5131573" y="2450141"/>
        <a:ext cx="1183975" cy="789317"/>
      </dsp:txXfrm>
    </dsp:sp>
    <dsp:sp modelId="{4D22B74A-BDFE-4D86-98DD-E5946F73CA87}">
      <dsp:nvSpPr>
        <dsp:cNvPr id="0" name=""/>
        <dsp:cNvSpPr/>
      </dsp:nvSpPr>
      <dsp:spPr>
        <a:xfrm>
          <a:off x="6315548" y="2450141"/>
          <a:ext cx="1973292" cy="789317"/>
        </a:xfrm>
        <a:prstGeom prst="chevron">
          <a:avLst/>
        </a:prstGeom>
        <a:solidFill>
          <a:srgbClr val="A82E2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Make Assignment's</a:t>
          </a:r>
        </a:p>
      </dsp:txBody>
      <dsp:txXfrm>
        <a:off x="6710207" y="2450141"/>
        <a:ext cx="1183975" cy="789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2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7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5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8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9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9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9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2418E-6ABA-4030-B349-C6B4A900645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01B40-99CF-43C2-A88E-B037B5B9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1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hyperlink" Target="https://dl.acm.org/doi/10.1145/355873.355883" TargetMode="External"/><Relationship Id="rId18" Type="http://schemas.openxmlformats.org/officeDocument/2006/relationships/image" Target="../media/image7.png"/><Relationship Id="rId3" Type="http://schemas.openxmlformats.org/officeDocument/2006/relationships/image" Target="../media/image2.jpeg"/><Relationship Id="rId21" Type="http://schemas.openxmlformats.org/officeDocument/2006/relationships/image" Target="../media/image10.png"/><Relationship Id="rId7" Type="http://schemas.openxmlformats.org/officeDocument/2006/relationships/diagramData" Target="../diagrams/data1.xml"/><Relationship Id="rId12" Type="http://schemas.openxmlformats.org/officeDocument/2006/relationships/hyperlink" Target="https://onlinelibrary.wiley.com/doi/abs/10.1002/nav.3800020109" TargetMode="External"/><Relationship Id="rId1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hyperlink" Target="https://www.researchgate.net/figure/Flowchart-of-the-Hungarian-algorithm_fig3_361815026" TargetMode="Externa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svg"/><Relationship Id="rId15" Type="http://schemas.openxmlformats.org/officeDocument/2006/relationships/hyperlink" Target="https://cp-algorithms.com/graph/hungarian-algorithm.html" TargetMode="External"/><Relationship Id="rId23" Type="http://schemas.openxmlformats.org/officeDocument/2006/relationships/image" Target="../media/image12.png"/><Relationship Id="rId10" Type="http://schemas.openxmlformats.org/officeDocument/2006/relationships/diagramColors" Target="../diagrams/colors1.xml"/><Relationship Id="rId19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Relationship Id="rId14" Type="http://schemas.openxmlformats.org/officeDocument/2006/relationships/hyperlink" Target="https://egyankosh.ac.in/bitstream/123456789/20790/1/Unit-5.pdf" TargetMode="External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7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1E88B91-12D4-402D-D522-2131A7A46F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18560" cy="929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DE6454-0716-D2B1-B9C2-0AF3262A3D8D}"/>
              </a:ext>
            </a:extLst>
          </p:cNvPr>
          <p:cNvSpPr txBox="1"/>
          <p:nvPr/>
        </p:nvSpPr>
        <p:spPr>
          <a:xfrm>
            <a:off x="2751765" y="66584"/>
            <a:ext cx="7710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K. J. Somaiya school of Engineering, Mumbai – 400 077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  Science and Humanities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F.Y. B. Tech. Semester –I  (2025-26) 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Applied Mathematics-I</a:t>
            </a:r>
            <a:endParaRPr lang="en-US" dirty="0"/>
          </a:p>
        </p:txBody>
      </p:sp>
      <p:pic>
        <p:nvPicPr>
          <p:cNvPr id="6" name="Graphic 5" descr="Graduation cap with solid fill">
            <a:extLst>
              <a:ext uri="{FF2B5EF4-FFF2-40B4-BE49-F238E27FC236}">
                <a16:creationId xmlns:a16="http://schemas.microsoft.com/office/drawing/2014/main" id="{5FA8625E-A8BC-A80E-5EBF-292717788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8612" y="0"/>
            <a:ext cx="603886" cy="6038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2885A4-B2EC-0E2A-1B52-172299B75A1E}"/>
              </a:ext>
            </a:extLst>
          </p:cNvPr>
          <p:cNvSpPr txBox="1"/>
          <p:nvPr/>
        </p:nvSpPr>
        <p:spPr>
          <a:xfrm>
            <a:off x="10462499" y="66585"/>
            <a:ext cx="2300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Veer Rathod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16010125208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Div: C, Batch: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B1F902-7D00-5F05-0E71-7B3F892CDAC8}"/>
              </a:ext>
            </a:extLst>
          </p:cNvPr>
          <p:cNvSpPr/>
          <p:nvPr/>
        </p:nvSpPr>
        <p:spPr>
          <a:xfrm>
            <a:off x="0" y="1298389"/>
            <a:ext cx="12801600" cy="777767"/>
          </a:xfrm>
          <a:prstGeom prst="rect">
            <a:avLst/>
          </a:prstGeom>
          <a:solidFill>
            <a:srgbClr val="A82E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Matrices in Assignment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56B9E5E-41A3-BB2F-CAC7-AADFA009EB48}"/>
                  </a:ext>
                </a:extLst>
              </p:cNvPr>
              <p:cNvSpPr/>
              <p:nvPr/>
            </p:nvSpPr>
            <p:spPr>
              <a:xfrm>
                <a:off x="198121" y="2352779"/>
                <a:ext cx="3992879" cy="3346158"/>
              </a:xfrm>
              <a:prstGeom prst="rect">
                <a:avLst/>
              </a:prstGeom>
              <a:solidFill>
                <a:srgbClr val="A82E2F">
                  <a:alpha val="75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/>
                  <a:t>Introduction</a:t>
                </a:r>
                <a:r>
                  <a:rPr lang="en-US" dirty="0"/>
                  <a:t>: An assignment problem is an optimization problem in which a task has to be assigned to workers to minimize the cost and maximize the total profit. Every worker is assigned exactly one task.</a:t>
                </a:r>
              </a:p>
              <a:p>
                <a:pPr algn="ctr"/>
                <a:r>
                  <a:rPr lang="en-US" i="1" dirty="0"/>
                  <a:t>It makes use of column matrix in which each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> shows the cost required by assigning task  ‘j’ to worker ‘I’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56B9E5E-41A3-BB2F-CAC7-AADFA009E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1" y="2352779"/>
                <a:ext cx="3992879" cy="3346158"/>
              </a:xfrm>
              <a:prstGeom prst="rect">
                <a:avLst/>
              </a:prstGeom>
              <a:blipFill>
                <a:blip r:embed="rId6"/>
                <a:stretch>
                  <a:fillRect l="-1218" r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77D878B-133E-8B84-0BF3-6F241F8F2CA0}"/>
              </a:ext>
            </a:extLst>
          </p:cNvPr>
          <p:cNvSpPr/>
          <p:nvPr/>
        </p:nvSpPr>
        <p:spPr>
          <a:xfrm>
            <a:off x="8487973" y="2349071"/>
            <a:ext cx="4114800" cy="4707555"/>
          </a:xfrm>
          <a:prstGeom prst="rect">
            <a:avLst/>
          </a:prstGeom>
          <a:solidFill>
            <a:srgbClr val="A82E2F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Real Life 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Job</a:t>
            </a:r>
            <a:r>
              <a:rPr lang="en-US" dirty="0"/>
              <a:t> </a:t>
            </a:r>
            <a:r>
              <a:rPr lang="en-US" i="1" dirty="0"/>
              <a:t>scheduling</a:t>
            </a:r>
            <a:r>
              <a:rPr lang="en-US" dirty="0"/>
              <a:t>: giving projects to employees to minimize cost &amp; maximize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Transportation</a:t>
            </a:r>
            <a:r>
              <a:rPr lang="en-US" dirty="0"/>
              <a:t> &amp; logistics: Assigning delivery routes to trucks to reduce fuel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Education</a:t>
            </a:r>
            <a:r>
              <a:rPr lang="en-US" dirty="0"/>
              <a:t>: assigning specific teachers to students to improve the mentors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Airline crew assignment</a:t>
            </a:r>
            <a:r>
              <a:rPr lang="en-US" dirty="0"/>
              <a:t>: minimizing the crew idle time with the help of proper shift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Resource management in hospitals</a:t>
            </a:r>
            <a:r>
              <a:rPr lang="en-US" dirty="0"/>
              <a:t>: assigning doctors or nurses to specific department to improve the efficiency 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E8CF33DC-0687-565A-A84A-936DB4987B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9128029"/>
              </p:ext>
            </p:extLst>
          </p:nvPr>
        </p:nvGraphicFramePr>
        <p:xfrm>
          <a:off x="46428" y="6284035"/>
          <a:ext cx="8289853" cy="568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131610F-12B6-B5C4-A7E6-4B30CC0430B6}"/>
              </a:ext>
            </a:extLst>
          </p:cNvPr>
          <p:cNvSpPr txBox="1"/>
          <p:nvPr/>
        </p:nvSpPr>
        <p:spPr>
          <a:xfrm>
            <a:off x="46428" y="8274634"/>
            <a:ext cx="223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Hungarian Algorithm: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C1646A-1D8F-B826-327D-CAAD2ED39049}"/>
              </a:ext>
            </a:extLst>
          </p:cNvPr>
          <p:cNvSpPr/>
          <p:nvPr/>
        </p:nvSpPr>
        <p:spPr>
          <a:xfrm>
            <a:off x="8487973" y="7187899"/>
            <a:ext cx="4114800" cy="2326862"/>
          </a:xfrm>
          <a:prstGeom prst="rect">
            <a:avLst/>
          </a:prstGeom>
          <a:solidFill>
            <a:srgbClr val="A82E2F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References: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400" dirty="0">
                <a:hlinkClick r:id="rId12"/>
              </a:rPr>
              <a:t>https://onlinelibrary.wiley.com/doi/abs/10.1002/nav.3800020109</a:t>
            </a:r>
            <a:endParaRPr lang="en-US" sz="1400" dirty="0"/>
          </a:p>
          <a:p>
            <a:pPr marL="342900" indent="-342900">
              <a:buFont typeface="+mj-lt"/>
              <a:buAutoNum type="arabicParenR"/>
            </a:pPr>
            <a:r>
              <a:rPr lang="en-US" sz="1400" dirty="0">
                <a:hlinkClick r:id="rId13"/>
              </a:rPr>
              <a:t>https://dl.acm.org/doi/10.1145/355873.355883</a:t>
            </a:r>
            <a:endParaRPr lang="en-US" sz="1400" dirty="0"/>
          </a:p>
          <a:p>
            <a:pPr marL="342900" indent="-342900">
              <a:buFont typeface="+mj-lt"/>
              <a:buAutoNum type="arabicParenR"/>
            </a:pPr>
            <a:r>
              <a:rPr lang="en-US" sz="1400" dirty="0">
                <a:hlinkClick r:id="rId14"/>
              </a:rPr>
              <a:t>https://egyankosh.ac.in/bitstream/123456789/20790/1/Unit-5.pdf</a:t>
            </a:r>
            <a:endParaRPr lang="en-US" sz="1400" dirty="0"/>
          </a:p>
          <a:p>
            <a:pPr marL="342900" indent="-342900">
              <a:buFont typeface="+mj-lt"/>
              <a:buAutoNum type="arabicParenR"/>
            </a:pPr>
            <a:r>
              <a:rPr lang="en-US" sz="1400" dirty="0">
                <a:hlinkClick r:id="rId15"/>
              </a:rPr>
              <a:t>https://cp-algorithms.com/graph/hungarian-algorithm.html</a:t>
            </a:r>
            <a:endParaRPr lang="en-US" sz="1400" dirty="0"/>
          </a:p>
          <a:p>
            <a:pPr marL="342900" indent="-342900">
              <a:buFont typeface="+mj-lt"/>
              <a:buAutoNum type="arabicParenR"/>
            </a:pPr>
            <a:r>
              <a:rPr lang="en-US" sz="1400" dirty="0">
                <a:hlinkClick r:id="rId16"/>
              </a:rPr>
              <a:t>https://www.researchgate.net/figure/Flowchart-of-the-Hungarian-algorithm_fig3_361815026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6BF74-EE3A-D694-24D3-7587E43A22EF}"/>
              </a:ext>
            </a:extLst>
          </p:cNvPr>
          <p:cNvSpPr/>
          <p:nvPr/>
        </p:nvSpPr>
        <p:spPr>
          <a:xfrm>
            <a:off x="198121" y="5975561"/>
            <a:ext cx="5394959" cy="2262632"/>
          </a:xfrm>
          <a:prstGeom prst="rect">
            <a:avLst/>
          </a:prstGeom>
          <a:solidFill>
            <a:srgbClr val="A82E2F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b="1" dirty="0"/>
              <a:t>Objective: Each worker should be assigned one task such that the total cost is minimum</a:t>
            </a:r>
          </a:p>
          <a:p>
            <a:r>
              <a:rPr lang="en-US" sz="1100" b="1" i="1" dirty="0">
                <a:solidFill>
                  <a:schemeClr val="bg2">
                    <a:lumMod val="90000"/>
                  </a:schemeClr>
                </a:solidFill>
              </a:rPr>
              <a:t>Using the Hungarian algorithm given below we get the result for the minimum cost as follows: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</a:t>
            </a:r>
            <a:r>
              <a:rPr lang="en-US" sz="1100" b="1" dirty="0">
                <a:sym typeface="Wingdings" panose="05000000000000000000" pitchFamily="2" charset="2"/>
              </a:rPr>
              <a:t> Task1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ym typeface="Wingdings" panose="05000000000000000000" pitchFamily="2" charset="2"/>
              </a:rPr>
              <a:t>B Task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ym typeface="Wingdings" panose="05000000000000000000" pitchFamily="2" charset="2"/>
              </a:rPr>
              <a:t>C  Task 3</a:t>
            </a:r>
            <a:endParaRPr lang="en-US" sz="1100" b="1" dirty="0"/>
          </a:p>
        </p:txBody>
      </p:sp>
      <p:pic>
        <p:nvPicPr>
          <p:cNvPr id="1028" name="Picture 4" descr="The six steps in the Hungarian algorithm.">
            <a:extLst>
              <a:ext uri="{FF2B5EF4-FFF2-40B4-BE49-F238E27FC236}">
                <a16:creationId xmlns:a16="http://schemas.microsoft.com/office/drawing/2014/main" id="{D739F2BC-9A2C-4D79-0444-7A1D7FBF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964" y="2423398"/>
            <a:ext cx="2009931" cy="333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18A288-A252-C122-494B-878A59DB83BF}"/>
              </a:ext>
            </a:extLst>
          </p:cNvPr>
          <p:cNvSpPr txBox="1"/>
          <p:nvPr/>
        </p:nvSpPr>
        <p:spPr>
          <a:xfrm>
            <a:off x="178753" y="5914703"/>
            <a:ext cx="196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Example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305D19-1833-126C-998D-87A5C64CCED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1" y="6259386"/>
            <a:ext cx="4157631" cy="9285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63EA71-F569-C7E8-77CE-BA94EC1EE8B3}"/>
              </a:ext>
            </a:extLst>
          </p:cNvPr>
          <p:cNvSpPr txBox="1"/>
          <p:nvPr/>
        </p:nvSpPr>
        <p:spPr>
          <a:xfrm>
            <a:off x="1513109" y="7711738"/>
            <a:ext cx="4410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This results in minimum cost: 8+12+11=31</a:t>
            </a:r>
          </a:p>
        </p:txBody>
      </p:sp>
      <p:pic>
        <p:nvPicPr>
          <p:cNvPr id="1030" name="Picture 6" descr="Flowchart of the Hungarian algorithm. | Download Scientific Diagram">
            <a:extLst>
              <a:ext uri="{FF2B5EF4-FFF2-40B4-BE49-F238E27FC236}">
                <a16:creationId xmlns:a16="http://schemas.microsoft.com/office/drawing/2014/main" id="{6416D012-B28C-EBF5-DBC7-80CC7AFCE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700" y="5914703"/>
            <a:ext cx="2657987" cy="256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F4F939-74D0-C3A2-53EB-2149E23C6647}"/>
              </a:ext>
            </a:extLst>
          </p:cNvPr>
          <p:cNvSpPr txBox="1"/>
          <p:nvPr/>
        </p:nvSpPr>
        <p:spPr>
          <a:xfrm>
            <a:off x="4236001" y="2384630"/>
            <a:ext cx="2320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Hungarian algorithm: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43267D-6708-5425-1317-5F3276C6DD8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9078" y="2807672"/>
            <a:ext cx="1864786" cy="6961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F7D919C-116D-A2DD-47D2-DDC9EA3C57ED}"/>
              </a:ext>
            </a:extLst>
          </p:cNvPr>
          <p:cNvSpPr txBox="1"/>
          <p:nvPr/>
        </p:nvSpPr>
        <p:spPr>
          <a:xfrm>
            <a:off x="4221474" y="3548456"/>
            <a:ext cx="1059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Constraints: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AFBF75-EFD5-6A2F-0F9C-E1403909F12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4362"/>
          <a:stretch>
            <a:fillRect/>
          </a:stretch>
        </p:blipFill>
        <p:spPr>
          <a:xfrm>
            <a:off x="4306520" y="3880882"/>
            <a:ext cx="1864786" cy="5557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7FEA56-A282-7A5D-CF00-FB1590524C3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99079" y="4588911"/>
            <a:ext cx="1872228" cy="53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1FD174-E1BF-381E-4136-5307C4C1CEE9}"/>
                  </a:ext>
                </a:extLst>
              </p:cNvPr>
              <p:cNvSpPr txBox="1"/>
              <p:nvPr/>
            </p:nvSpPr>
            <p:spPr>
              <a:xfrm>
                <a:off x="4191000" y="5253548"/>
                <a:ext cx="1815642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𝑠h𝑜𝑢𝑙𝑑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𝑒𝑖𝑡h𝑒𝑟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1FD174-E1BF-381E-4136-5307C4C1C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253548"/>
                <a:ext cx="1815642" cy="325089"/>
              </a:xfrm>
              <a:prstGeom prst="rect">
                <a:avLst/>
              </a:prstGeom>
              <a:blipFill>
                <a:blip r:embed="rId23"/>
                <a:stretch>
                  <a:fillRect r="-21212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56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200</TotalTime>
  <Words>348</Words>
  <Application>Microsoft Office PowerPoint</Application>
  <PresentationFormat>A3 Paper (297x420 mm)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 rathod</dc:creator>
  <cp:lastModifiedBy>veer rathod</cp:lastModifiedBy>
  <cp:revision>6</cp:revision>
  <dcterms:created xsi:type="dcterms:W3CDTF">2025-10-19T14:33:10Z</dcterms:created>
  <dcterms:modified xsi:type="dcterms:W3CDTF">2025-10-31T05:05:41Z</dcterms:modified>
</cp:coreProperties>
</file>